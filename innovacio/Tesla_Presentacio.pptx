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TREBALL D'INNOVACIÓ EN 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Self-Driving v12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Tesla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32688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Conducció autònoma end-to-end basada en visió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5029200"/>
            <a:ext cx="3840480" cy="0"/>
          </a:xfrm>
          <a:prstGeom prst="line">
            <a:avLst/>
          </a:prstGeom>
          <a:noFill/>
          <a:ln w="12700">
            <a:solidFill>
              <a:srgbClr val="333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 Mula Tixier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Planas Bosch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Prieto Salcedo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· FIB  ·  Maig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de la conducció autònoma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0" cy="4297680"/>
          </a:xfrm>
          <a:prstGeom prst="rect">
            <a:avLst/>
          </a:prstGeom>
          <a:solidFill>
            <a:srgbClr val="0E0E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200400" cy="109728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declara nivell 2 (SAE): automatització parcial amb supervisió humana.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349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és el responsable legal.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984248"/>
            <a:ext cx="457200" cy="457200"/>
          </a:xfrm>
          <a:prstGeom prst="ellipse">
            <a:avLst/>
          </a:prstGeom>
          <a:solidFill>
            <a:srgbClr val="E82127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   </a:t>
            </a:r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Entendre l'entorn 3D.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60520" y="2807208"/>
            <a:ext cx="457200" cy="457200"/>
          </a:xfrm>
          <a:prstGeom prst="ellipse">
            <a:avLst/>
          </a:prstGeom>
          <a:solidFill>
            <a:srgbClr val="E82127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743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   </a:t>
            </a:r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altres agents.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160520" y="3630168"/>
            <a:ext cx="457200" cy="457200"/>
          </a:xfrm>
          <a:prstGeom prst="ellipse">
            <a:avLst/>
          </a:prstGeom>
          <a:solidFill>
            <a:srgbClr val="E82127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35661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   </a:t>
            </a:r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maniobres segures.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160520" y="4453128"/>
            <a:ext cx="457200" cy="457200"/>
          </a:xfrm>
          <a:prstGeom prst="ellipse">
            <a:avLst/>
          </a:prstGeom>
          <a:solidFill>
            <a:srgbClr val="E82127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4389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Execució   </a:t>
            </a:r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suau del vehicle.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160520" y="5276088"/>
            <a:ext cx="457200" cy="457200"/>
          </a:xfrm>
          <a:prstGeom prst="ellipse">
            <a:avLst/>
          </a:prstGeom>
          <a:solidFill>
            <a:srgbClr val="E82127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5212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Robustesa   </a:t>
            </a:r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Qualsevol clima, sense error.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APROXIMACIONS DE LA INDÚSTRIA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Dues filosofies oposades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91440" cy="2468880"/>
          </a:xfrm>
          <a:prstGeom prst="rect">
            <a:avLst/>
          </a:prstGeom>
          <a:solidFill>
            <a:srgbClr val="8A8E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STACK RIC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· Cruise · Mobileye · BYD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Càmeres + radar + LIDAR + mapes HD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 robust, però només en zones cartografiades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i car d'escalar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2468880"/>
          </a:xfrm>
          <a:prstGeom prst="rect">
            <a:avLst/>
          </a:prstGeom>
          <a:solidFill>
            <a:srgbClr val="0E0E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91640"/>
            <a:ext cx="91440" cy="246888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212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càmeres, sense LIDAR ni mapes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els humans condueixen amb dos ulls, la visió basta"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globalment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 de l'Autopilot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5532120"/>
            <a:ext cx="10424160" cy="0"/>
          </a:xfrm>
          <a:prstGeom prst="line">
            <a:avLst/>
          </a:prstGeom>
          <a:noFill/>
          <a:ln w="25400">
            <a:solidFill>
              <a:srgbClr val="3334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5440680"/>
            <a:ext cx="182880" cy="182880"/>
          </a:xfrm>
          <a:prstGeom prst="ellipse">
            <a:avLst/>
          </a:prstGeom>
          <a:solidFill>
            <a:srgbClr val="8A8E99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1.0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Mobileye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36392" y="5440680"/>
            <a:ext cx="182880" cy="182880"/>
          </a:xfrm>
          <a:prstGeom prst="ellipse">
            <a:avLst/>
          </a:prstGeom>
          <a:solidFill>
            <a:srgbClr val="8A8E99"/>
          </a:solidFill>
          <a:ln/>
        </p:spPr>
      </p:sp>
      <p:sp>
        <p:nvSpPr>
          <p:cNvPr id="20" name="Text 18"/>
          <p:cNvSpPr/>
          <p:nvPr/>
        </p:nvSpPr>
        <p:spPr>
          <a:xfrm>
            <a:off x="2404872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67712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2.0–2.5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pròpia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21224" y="5440680"/>
            <a:ext cx="182880" cy="182880"/>
          </a:xfrm>
          <a:prstGeom prst="ellipse">
            <a:avLst/>
          </a:prstGeom>
          <a:solidFill>
            <a:srgbClr val="8A8E99"/>
          </a:solidFill>
          <a:ln/>
        </p:spPr>
      </p:sp>
      <p:sp>
        <p:nvSpPr>
          <p:cNvPr id="23" name="Text 21"/>
          <p:cNvSpPr/>
          <p:nvPr/>
        </p:nvSpPr>
        <p:spPr>
          <a:xfrm>
            <a:off x="4489704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52544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HW3 · FSD v10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HydraNet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06056" y="5440680"/>
            <a:ext cx="182880" cy="182880"/>
          </a:xfrm>
          <a:prstGeom prst="ellipse">
            <a:avLst/>
          </a:prstGeom>
          <a:solidFill>
            <a:srgbClr val="8A8E99"/>
          </a:solidFill>
          <a:ln/>
        </p:spPr>
      </p:sp>
      <p:sp>
        <p:nvSpPr>
          <p:cNvPr id="26" name="Text 24"/>
          <p:cNvSpPr/>
          <p:nvPr/>
        </p:nvSpPr>
        <p:spPr>
          <a:xfrm>
            <a:off x="6574536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37376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 v11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Vision-only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90888" y="5440680"/>
            <a:ext cx="182880" cy="182880"/>
          </a:xfrm>
          <a:prstGeom prst="ellipse">
            <a:avLst/>
          </a:prstGeom>
          <a:solidFill>
            <a:srgbClr val="E82127"/>
          </a:solidFill>
          <a:ln/>
        </p:spPr>
      </p:sp>
      <p:sp>
        <p:nvSpPr>
          <p:cNvPr id="29" name="Text 27"/>
          <p:cNvSpPr/>
          <p:nvPr/>
        </p:nvSpPr>
        <p:spPr>
          <a:xfrm>
            <a:off x="865936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22208" y="5669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 v12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 DE LES TÈCNIQUES D'IA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"Software 2.0": de regles a xarxes neuronals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no escriu instruccions: defineix una xarxa i la deixa aprendre de les dades.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FSD és la migració de C++ a xarxes neuronals.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670048" cy="3383280"/>
          </a:xfrm>
          <a:prstGeom prst="rect">
            <a:avLst/>
          </a:prstGeom>
          <a:solidFill>
            <a:srgbClr val="1A1A1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697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HydraNet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compartit amb un cap per tasca.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38404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A8E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2468880"/>
            <a:ext cx="2670048" cy="3383280"/>
          </a:xfrm>
          <a:prstGeom prst="rect">
            <a:avLst/>
          </a:prstGeom>
          <a:solidFill>
            <a:srgbClr val="1A1A1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2697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3703320" y="37947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BEV Transformer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03320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 de les 8 càmeres en vista d'ocell.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A8E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2670048" cy="3383280"/>
          </a:xfrm>
          <a:prstGeom prst="rect">
            <a:avLst/>
          </a:prstGeom>
          <a:solidFill>
            <a:srgbClr val="1A1A1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697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537960" y="37947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Occupancy + Video NN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 3D i memòria temporal.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38404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A8E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44000" y="2468880"/>
            <a:ext cx="2670048" cy="3383280"/>
          </a:xfrm>
          <a:prstGeom prst="rect">
            <a:avLst/>
          </a:prstGeom>
          <a:solidFill>
            <a:srgbClr val="E82127"/>
          </a:solidFill>
          <a:ln w="12700">
            <a:solidFill>
              <a:srgbClr val="E821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72600" y="2697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9372600" y="379476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Planificació end-to-end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72600" y="461772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directe. La innovació del v12.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TÈCNICA 1 · PERCEPCIÓ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HydraNet: un cervell, moltes tasques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0" y="1691640"/>
            <a:ext cx="5486400" cy="4480560"/>
          </a:xfrm>
          <a:prstGeom prst="rect">
            <a:avLst/>
          </a:prstGeom>
          <a:solidFill>
            <a:srgbClr val="0E0E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esquema1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104369"/>
            <a:ext cx="5029200" cy="3655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Tesla AI Day 2021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repte: </a:t>
            </a:r>
            <a:pPr indent="0" marL="0">
              <a:buNone/>
            </a:pPr>
            <a:r>
              <a:rPr lang="en-US" sz="15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moltes tasques visuals i un xip que processa 8 càmeres a 36 fps. No hi cap una xarxa per tasca.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297180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backbone compartit extreu característiques comunes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"Caps" específics per cada tasca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aprèn una tasca beneficia les altres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poden afegir capacitats sense reentrenar tot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TÈCNICA 2 · REPRESENTACIÓ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Veure el món en 3D, no per càmera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64008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BEV TRANSFORMER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Reprojecció multi-càmera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892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càmeres es fusionen en una vista d'ocell única.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graella de queries atén totes les càmeres alhora (cross-attention).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Adéu als duplicats i a les distàncies mal estimades.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5349240" cy="64008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OCCUPANCY NETWORKS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 agnòstica de classes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892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cada punt 3D prediu: ocupació + velocitat.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 saber QUÈ és: detecta un sofà a la carretera encara que no l'hagi vist mai.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Seguretat contra l'imprevist.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TÈCNICA 3 · MEMÒRIA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Neural Nets: el sistema recorda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solidFill>
            <a:srgbClr val="0E0E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esquema2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76246"/>
            <a:ext cx="5120640" cy="3311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Tesla AI Day 2021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63640" y="19202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Conduir exigeix memòria, no només imatges fixes.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63640" y="26060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cua guarda informació dels últims frames. Permet: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338328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un vianant tapat un moment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velocitats sense radar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Donar coherència temporal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 DE FSD V12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planificador deixa de ser codi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846320" cy="4023360"/>
          </a:xfrm>
          <a:prstGeom prst="rect">
            <a:avLst/>
          </a:prstGeom>
          <a:solidFill>
            <a:srgbClr val="1A1A1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 A v11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híbrid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</a:t>
            </a:r>
            <a:pPr indent="0" marL="0">
              <a:buNone/>
            </a:pPr>
            <a:r>
              <a:rPr lang="en-US" sz="17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neuronal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</a:t>
            </a:r>
            <a:pPr indent="0" marL="0">
              <a:buNone/>
            </a:pPr>
            <a:r>
              <a:rPr lang="en-US" sz="17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amb codi C++ heurístic, escrit a mà cas per cas.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32120" y="3566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6675120" y="1828800"/>
            <a:ext cx="4846320" cy="4023360"/>
          </a:xfrm>
          <a:prstGeom prst="rect">
            <a:avLst/>
          </a:prstGeom>
          <a:solidFill>
            <a:srgbClr val="E821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v12  ·  GENER 2024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Purament neural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33832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planner desapareix.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xarxa rep la visió i genera directament el control: volant, accelerador i fre.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49440" y="4800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Entrenada imitant milions de vídeos de bons conductors humans.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NATURALESA DE LA INNOVACIÓ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és un algorisme nou, és escala industrial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components ja existien i l'end-to-end el va demostrar NVIDIA el 2016. </a:t>
            </a:r>
            <a:pPr indent="0" marL="0">
              <a:buNone/>
            </a:pPr>
            <a:r>
              <a:rPr lang="en-US" sz="1500" b="1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 és portar-ho a producció massiva.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3611880" cy="109728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 i integració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sistema purament neural per al control en producció massiva.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377440"/>
            <a:ext cx="3611880" cy="109728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engine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milions de cotxes recollint dades, auto-etiquetatge i simulació.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23774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377440"/>
            <a:ext cx="3611880" cy="109728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50392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Verticalització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0392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controla xips, software, vehicles i dades. Itera més ràpid.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 EMPRESARIAL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negoci d'alt marge i un fossat de 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594360"/>
          </a:xfrm>
          <a:prstGeom prst="rect">
            <a:avLst/>
          </a:prstGeom>
          <a:solidFill>
            <a:srgbClr val="39B5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recurrents (8.000 $ o ~99 $/mes)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 de marca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Dades com a avantatge competitiu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previ cap al robotaxi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783080"/>
            <a:ext cx="5349240" cy="59436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83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RISCOS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5603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Investigacions reguladores (+800 accidents)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 reputacional i mediàtic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pel nom "Full Self-Driving"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Promeses incomplertes des de 2016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 SOCIAL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 la promesa i la preocupació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594360"/>
          </a:xfrm>
          <a:prstGeom prst="rect">
            <a:avLst/>
          </a:prstGeom>
          <a:solidFill>
            <a:srgbClr val="39B5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dels accidents són per error humà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Mobilitat per a gent gran o amb discapacitat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temps de conducció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estrès quotidià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783080"/>
            <a:ext cx="5349240" cy="59436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83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RISCOS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5603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excessiva (es reacciona tard)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Responsabilitat legal poc clara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Privacitat: vídeo continu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6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Biaixos del dataset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IA simbòlica a la IA estadística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v12 canvia regles per una xarxa end-to-end en un sistema crític.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 en l'aplicació a escala, no en l'algorisme.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212080" cy="1280160"/>
          </a:xfrm>
          <a:prstGeom prst="rect">
            <a:avLst/>
          </a:prstGeom>
          <a:solidFill>
            <a:srgbClr val="1A1A1F"/>
          </a:solidFill>
          <a:ln w="19050">
            <a:solidFill>
              <a:srgbClr val="39B5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B5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 funciona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Redefinirà la mobilitat i obrirà el robotaxi.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3291840"/>
            <a:ext cx="5212080" cy="1280160"/>
          </a:xfrm>
          <a:prstGeom prst="rect">
            <a:avLst/>
          </a:prstGeom>
          <a:solidFill>
            <a:srgbClr val="1A1A1F"/>
          </a:solidFill>
          <a:ln w="19050">
            <a:solidFill>
              <a:srgbClr val="E821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 falla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Retrocés en la confiança pública.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 d'estudi de les tensions de la IA: innovació vs seguretat · escala vs robustesa.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Gràcies  ·  Preguntes?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Self-Driving v12 de Tesla</dc:title>
  <dc:subject>PptxGenJS Presentation</dc:subject>
  <dc:creator>Marcel Mula · Marc Planas · Jaime Prieto</dc:creator>
  <cp:lastModifiedBy>Marcel Mula · Marc Planas · Jaime Prieto</cp:lastModifiedBy>
  <cp:revision>1</cp:revision>
  <dcterms:created xsi:type="dcterms:W3CDTF">2026-06-01T20:14:00Z</dcterms:created>
  <dcterms:modified xsi:type="dcterms:W3CDTF">2026-06-01T20:14:00Z</dcterms:modified>
</cp:coreProperties>
</file>